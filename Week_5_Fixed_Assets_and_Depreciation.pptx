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</p:sldIdLst>
  <p:sldSz cx="12188825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38548DC-F2AC-4D87-8F01-23EAC8F77AE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Welcome trainees to Week 5 of BS/C/7119 — Apply Fundamentals of Accounting.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week we focus on fixed assets (non-current assets): how to define, acquire, depreciate, and dispose of them.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By the end of this session you should be able to handle all aspects of fixed asset accounting as required by IAS 16.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Remind trainees to have their exercise books ready for worked examples.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F0B7F81-D694-41B1-8883-1ADFF2A87ED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through each learning outcome clearly. Emphasise that LOs 1–8 build on each other: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You must understand what a fixed asset IS (LO1) before you can record its acquisition (LO2).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You must know how to compute depreciation (LO3) before you can account for it (LO4) or maintain the provision account (LO5).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Disposal (LO6 &amp; LO7) requires knowledge of both cost and accumulated depreciation.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LO8 ties everything together with the underlying accounting principles.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Ask trainees: "Can anyone give an example of a fixed asset used in a Kenyan business?"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C5AE9B2-E7AD-4F48-BB4D-B151FC76863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teaching points: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Stress the phrase "more than one accounting period" — this is what distinguishes a fixed asset from a current asset or an expense.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IAS 16 is the governing standard. Kenya adopted IFRS for SMEs and full IFRS, so IAS 16 applies.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The two-part IAS 16 definition (held for use AND more than one period) is examinable — trainees should memorise both parts.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Go through the Kenya examples: ask trainees to suggest additional examples from their own experience (e.g., a boda boda, a posho mill, a school building).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 Clarify: a matatu bought for resale by a dealer is STOCK (current asset), not a fixed asset. Intent of use matters.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0D03C20-EA4D-4BD9-972F-E04DD0F513B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Recognition criteria are critical — many exam questions test whether an item should be capitalised or expensed.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through both conditions: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Condition 1 — Probable future economic benefits: the asset must be expected to generate income or reduce costs.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Condition 2 — Reliable measurement of cost: there must be a verifiable invoice or valuation.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Practical example: A business pays a deposit for a machine not yet delivered. Should it be recognised?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→ Condition 2 may not yet be fully met if the final cost is uncertain. Discuss with trainees.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Land note: Reinforce that land is NOT depreciated. This is a common exam error. Exception: leasehold land (finite legal right) and quarries (depleted over time).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A60C98E-9CD8-4C64-8D6F-A6D1238DE9B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Acquisition definition (Weygandt et al., 2018): stress that acquisition is not just buying — it includes construction, exchange, and finance leases.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Historical cost principle (IAS 16, para. 16): the asset is recorded at what it COST to get it ready for use.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Spend time on the "directly attributable costs" concept: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✔ Delivery, installation, testing — these are necessary to bring the asset into working condition.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✘ Repairs after the asset is in use, admin costs, training staff to use the asset — these are EXPENSES.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Ask trainees: "If a business pays KES 10,000 to train staff to use a new machine, should this be capitalised?"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→ No. Training costs are not directly attributable to bringing the asset to its working condition.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1785BE4-F768-466A-B27F-CC28D0B7FB9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Before revealing the answer, give trainees 2–3 minutes to attempt this individually.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Remind them: only costs that are DIRECTLY ATTRIBUTABLE to bringing the asset to its present location and condition are capitalised.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Common mistake: students sometimes include insurance or finance charges — clarify these are NOT capitalised under IAS 16.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56A5B5D-5389-400C-862F-DDA3F9D6E30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through each line: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Purchase price: the invoice amount — always capitalised.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Delivery: directly attributable — capitalised.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Installation: directly attributable — capitalised.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Testing: directly attributable (asset not yet operational) — capitalised.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Total = KES 880,000. This is the amount entered in the asset account.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Ask: "What if Mwangi also paid KES 5,000 for a maintenance contract for the first year?"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→ NOT capitalised. Maintenance is an ongoing expense, not part of bringing the asset into use.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0E3C38F-D686-450F-B905-CD1CAA2973E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Three methods of purchase — all result in the same debit to the Fixed Asset Account at cost.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credit differs depending on how payment is made.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through each: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Cash: straightforward — asset bought and paid immediately.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Credit: asset received but not yet paid — creates a creditor (liability).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Loan: asset paid for by borrowing — creates a loan liability.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Emphasise: regardless of payment method, the asset is ALWAYS recorded at its full cost on the date of acquisition.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Ask trainees to write the journal entry for Mwangi's machine (KES 880,000) if purchased on credit from Nairobi Machinery Ltd.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211CCCB-936A-4041-9903-9D3972CD65B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Depreciation is one of the most important concepts in this unit.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points to emphasise: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Depreciation is an ALLOCATION of cost — not a valuation exercise. We are not trying to show the market value of the asset.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The depreciable amount = Cost minus Residual Value. If residual value is zero, the full cost is depreciated.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NBV (Net Book Value) = what the asset is shown at on the Balance Sheet at any point in time.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Reasons for depreciation — use relatable Kenyan examples: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Wear &amp; tear: a matatu engine wears out from daily use on Nairobi roads.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Obsolescence: a 2010 computer is outdated by 2024 models.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Depletion: a quarry in Machakos is gradually exhausted.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Ask: "Why don't we just expense the full cost of a machine in the year we buy it?"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→ Because it generates income over many years — the Matching Principle requires us to spread the cost.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40EC53B-A83F-45A3-B312-87E11A92D85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Give trainees 3–4 minutes to attempt parts (a) and (b) before revealing the answer.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Remind them of the formula: Annual Depreciation = (Cost − Residual Value) ÷ Useful Life.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Encourage them to set up the schedule in a table format in their exercise books.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18BBF35-9715-4065-B4D0-CF165A4E53E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through the formula step by step: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(2,000,000 − 200,000) ÷ 5 = 1,800,000 ÷ 5 = KES 360,000 per year.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features of straight-line: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The SAME amount is charged every year.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At the end of Year 5, NBV = Residual Value (KES 200,000). This is a useful check.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The asset account stays at KES 2,000,000 throughout — only the provision account changes.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Journal entry: Dr Depreciation Expense / Cr Provision for Depreciation.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Ask: "Where does the Depreciation Expense appear in the financial statements?"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→ Income Statement (reduces profit). The Provision appears on the Balance Sheet (deducted from asset cost).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DDE321F-9710-482B-AB57-71A9A680C69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 through the schedule row by row. Highlight: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Cost column never changes — always KES 2,000,000 (historical cost principle).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Annual depreciation is constant — KES 360,000 every year.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Accumulated depreciation grows by KES 360,000 each year.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NBV decreases by KES 360,000 each year.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At Year 5: NBV = KES 200,000 = Residual Value ✓ (good check for trainees).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Ask trainees to verify: 2,000,000 − 1,800,000 = 200,000. ✓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AEB1E5D-F8C3-4EA3-AC25-7C8D3160E1C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Give trainees 3–4 minutes to attempt parts (a) and (b).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Remind them: under reducing balance, the rate is applied to the NBV at the START of each year, not the original cost.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key difference from straight-line.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FD54814-338E-4F0B-8C06-51B461C1036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features of reducing balance: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Higher depreciation in early years, lower in later years.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Reflects the reality that many assets (vehicles, computers) lose value faster when new.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The asset is NEVER fully depreciated to zero — it asymptotically approaches zero.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No residual value is needed in the formula (the method naturally leaves a residual).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Ask: "Which method gives a higher depreciation charge in Year 1 for the same asset?"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→ Reducing balance (for the same asset, RBM Year 1 &gt; SLM Year 1 in most cases).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8F1540A-4E34-4889-8661-B23056EE935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 through the schedule. Highlight: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NBV at Start of Year 2 = NBV at End of Year 1 (KES 750,000).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Each year's depreciation is smaller than the previous year.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After 5 years, NBV = KES 237,304 — the asset still has a book value.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Compare with the SLM schedule for Wanjiku's van: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SLM Year 1 dep'n: KES 360,000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RBM Year 1 dep'n (if 25% on KES 2m): KES 500,000 — higher under RBM.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0950D11-E792-4D28-8ADA-775AEE86B58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this comparison table to consolidate understanding of both methods.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exam point: IAS 16 allows BOTH methods — the choice should reflect the pattern of economic benefit consumption.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Straight-line: best for assets that provide equal benefit each year (furniture, buildings).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Reducing balance: best for assets that provide more benefit early on (vehicles, computers, technology).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Consistency principle: once a method is chosen, it must be applied consistently. A change requires disclosure in the financial statements (IAS 16, para. 61).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Ask: "A business changes from straight-line to reducing balance for its vehicles. What must it disclose?"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→ The reason for the change, and the effect on the current period's depreciation charge.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5DDA0F5-38B7-4C4D-A9AC-8FA81032B11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slide covers the double entry for recording depreciation each year.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through both entries: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Dr Depreciation Expense / Cr Provision for Depreciation — records the annual charge.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Dr P&amp;L / Cr Depreciation Expense — closes the expense account to the Income Statement at year end.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Emphasise: the ASSET ACCOUNT IS NEVER TOUCHED. It stays at historical cost.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provision account accumulates on the credit side — it grows each year.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Ask: "After 3 years, what is the balance on the Provision for Depreciation account for Wanjiku's van?"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→ 3 × 360,000 = KES 1,080,000 (credit balance).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A71E0AF-CB39-4DD9-8327-2CF048CD90D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provision for depreciation account is a CONTRA-ASSET — it has a credit balance and is deducted from the asset on the Balance Sheet.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Balance Sheet presentation is important for exams: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Motor Vehicle (at cost)              2,000,000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Less: Provision for Depreciation      (720,000)   ← after Year 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Net Book Value                       1,280,000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Ask trainees: "Why do we keep the asset at cost and use a separate provision account, rather than just reducing the asset account directly?"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→ So users of financial statements can see both the original cost AND the accumulated depreciation. This gives more information about the age and condition of assets.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7D1FF40-B35C-43EF-B3B7-77997845DB6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Give trainees 4–5 minutes to attempt all three ledger accounts.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Remind them of the format: Dr side on the left, Cr side on the right, with dates and narrations.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Common mistakes: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Putting depreciation on the wrong side of the provision account (it should be on the CREDIT side).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Forgetting to bring down the balance (Bal b/d) at the start of each new year.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39C03BA-0705-45E6-AA50-0D8B0BE4D1B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through each account carefully: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Motor Vehicle Account: stays at KES 2,000,000 on the debit side throughout. Never changes.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Provision for Depreciation: credit side grows each year. Balance b/d + new charge = new balance c/d.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Year 1: 360,000. Year 2: 720,000. Year 3: 1,080,000.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Depreciation Expense: opened each year, debited with the charge, then closed to P&amp;L (credited).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It has a nil balance at year end after the transfer.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Ask: "What is the NBV of the van at the end of Year 3?"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→ 2,000,000 − 1,080,000 = KES 920,000.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7E5DE23-36C6-435F-B9EC-227C3E15CF4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Disposal occurs when an asset is no longer used by the business.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key tool is the DISPOSAL ACCOUNT — a temporary account opened to calculate profit or loss.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through the 4 steps carefully. Stress: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Step 1: We REMOVE the asset from the books at its original cost (debit disposal, credit asset).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Step 2: We REMOVE the accumulated depreciation (debit provision, credit disposal).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After steps 1 &amp; 2, the disposal account shows the NBV on the debit side.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Step 3: We record what we received (debit cash, credit disposal).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Step 4: The balance is profit (credit balance → income) or loss (debit balance → expense).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Ask: "After steps 1 and 2, what does the balance on the disposal account represent?"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→ The Net Book Value of the asset at the date of disposal.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E2B9F2C-416E-4CE4-8000-84B0836E5C0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Give trainees 4–5 minutes to attempt all five parts.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Remind them to work through the steps in order: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Calculate accumulated depreciation first.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Then NBV.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Compare NBV with proceeds to find profit or loss.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Then prepare the disposal account.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 Then write the journal entries.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A1FE64A-BAF8-4FE6-BCB3-07BEDD6AA60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through the solution step by step: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Accumulated dep'n: 3 years × 10% × 200,000 = KES 60,000. (Straight-line: same amount each year.)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NBV: 200,000 − 60,000 = KES 140,000.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Proceeds: KES 160,000 &gt; NBV KES 140,000 → PROFIT of KES 20,000.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Disposal account: debit side = cost (200,000). Credit side = provision (60,000) + cash (160,000) + profit (20,000) = 240,000.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Wait — let's recheck: 60,000 + 160,000 = 220,000. Debit = 200,000. Credit exceeds debit by 20,000 → profit.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profit entry: Dr Disposal A/c 20,000 / Cr P&amp;L 20,000. This balances the account.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Ask: "Where does the profit on disposal appear in the financial statements?"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→ Income Statement — as other income (not part of trading profit).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A5BBCF7-3C10-4EBA-BDBB-8D5C4C29E49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Give trainees 4–5 minutes to attempt all five parts.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Remind them that under reducing balance, they must calculate Year 1 depreciation first, find the new NBV, then calculate Year 2 depreciation on that NBV.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E9F7D46-B476-4830-9D02-37CFEFA4607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through: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Year 1: 25% × 120,000 = 30,000. NBV = 90,000.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Year 2: 25% × 90,000 = 22,500. NBV = 67,500.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Accumulated dep'n = 52,500.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Proceeds = 50,000 &lt; NBV 67,500 → LOSS of 17,500.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Disposal account: debit = cost (120,000). Credit = provision (52,500) + cash (50,000) = 102,500.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Debit exceeds credit by 17,500 → LOSS. Entry: Dr P&amp;L 17,500 / Cr Disposal A/c 17,500.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Ask: "Where does the loss on disposal appear in the financial statements?"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→ Income Statement — as an expense (increases the loss or reduces profit).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A28B42C-7944-45FB-9A90-D53663649D9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slide summarises the journal entry template for ALL disposals.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Trainees should memorise the 4 steps — they are always the same regardless of whether there is a profit or loss.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only difference is Step 4: profit goes to P&amp;L as income, loss goes to P&amp;L as expense.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Tip for exams: always open the disposal account first, fill in steps 1–3, then find the balancing figure (profit or loss) before writing the journal entries.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5137658-3619-46CE-AE0C-22FEA57CAEB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through each journal entry for Kamau Traders line by line.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Stress that each step has TWO entries (debit and credit) — this is double-entry bookkeeping.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After all 4 steps, the disposal account balances to zero.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Ask trainees to total both sides of the disposal account: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Debit: 200,000 + 20,000 = 220,000.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Credit: 60,000 + 160,000 = 220,000. ✓ Balanced.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8F7F5E5-D412-477E-91FC-FBE3A4690FD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through each journal entry for Atieno Supplies.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After all 4 steps, the disposal account should balance: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Debit: 120,000.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Credit: 52,500 + 50,000 + 17,500 = 120,000. ✓ Balanced.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Reinforce: the loss (KES 17,500) is debited to P&amp;L — it increases expenses and reduces profit.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Ask: "How would this loss affect the business's tax liability?"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→ A loss on disposal is a deductible expense — it reduces taxable profit (subject to tax rules).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E674806-1FD7-4139-A5A1-91F16C09260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slide ties the entire week's content to the underlying accounting principles.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 through each principle and link it to a specific example from the week: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Historical Cost: Mwangi's machine recorded at KES 880,000 (not market value).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Matching: Wanjiku's van depreciated KES 360,000/year — matched to the years it generates income.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Consistency: Ochieng must use 25% RBM every year unless there is a justified reason to change.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Prudence: If Wanjiku's van is worth less than its NBV, an impairment loss must be recognised (IAS 36).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Going Concern: We depreciate over 5 years assuming the business will still be operating in Year 5.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Materiality: A KES 500 stapler need not be capitalised — expense it immediately.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Substance over Form: A finance lease asset is capitalised even if the business doesn't legally own it yet.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5414C44-9869-47D2-BD16-26A81FD9330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IAS 16 summary — key points for exams: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Initial recognition: ALWAYS at cost. Never at estimated value or market price.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Two subsequent measurement models: cost model (most common) and revaluation model.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Depreciation method must reflect the pattern of consumption — this is why the choice of method matters.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Residual value and useful life must be reviewed at EVERY year end — if circumstances change, the depreciation charge changes (prospectively, not retrospectively).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Ask: "A business originally estimated a machine's useful life as 10 years. After 3 years, it revises this to 7 years total. How does this affect depreciation?"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→ Remaining depreciable amount is spread over the remaining 4 years (7 − 3). This is a change in accounting estimate, not a change in accounting policy.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CDFF0D2-15F9-4255-A626-B5F76E9A03F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Practice Question 1 — give trainees 8–10 minutes to attempt both parts.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Remind them: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SLM: Annual dep'n = (3,600,000 − 600,000) ÷ 5 = KES 600,000.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RBM: Year 1 = 30% × 3,600,000. Year 2 = 30% × NBV at end of Year 1. And so 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Encourage trainees to set up the table before filling in numbers.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AD9CD76-85C2-484D-B87C-49CC2DB8053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SLM answer: Annual depreciation = KES 600,000 every year.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 Year 5: NBV = KES 600,000 = Residual Value ✓.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Ask trainees to check their own work against this table.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Note: the cost column never changes (KES 3,600,000 throughout).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4342D6F-E25C-489A-885D-157D98A36B1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RBM answer: depreciation decreases each year as the NBV falls.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 that after 5 years, NBV = KES 605,052 — slightly above the residual value of KES 600,000.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Under RBM, the asset is never fully depreciated to the residual value unless the rate is chosen precisely.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Ask: "Which method gives a higher total depreciation charge over 5 years?"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→ Both methods depreciate the same total amount (cost minus residual value = KES 3,000,000) over the asset's life. The difference is only in the TIMING of the charges.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76D6519-5761-4886-944C-6E2A83FFB80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Practice Question 2 — give trainees 10 minutes to attempt all three parts.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challenge: time apportionment. The lorry is sold on 30 June 2025 — only 6 months into 2025.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Remind trainees: depreciation for 2025 = 20% × 4,000,000 × 6/12 = KES 400,000.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CDCB856-7E68-4928-9C46-43009071A85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through the time apportionment carefully: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- 2023: full year = KES 800,000.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- 2024: full year = KES 800,000.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- 2025: half year (Jan–Jun) = KES 400,000.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Total = KES 2,000,000.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NBV at disposal = 4,000,000 − 2,000,000 = KES 2,000,000.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Ask: "Why do we only charge half a year's depreciation in 2025?"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→ The asset was only used for 6 months of 2025 before disposal. Matching principle.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2F965E9-0DA3-41E5-BA83-18144D6B861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through each journal entry. After all 4 steps: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Debit side of disposal account: 4,000,000 + 200,000 = 4,200,000.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Credit side: 2,000,000 + 2,200,000 = 4,200,000. ✓ Balanced.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profit of KES 200,000 arises because the lorry was sold for MORE than its NBV.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E96E809-9101-40BD-AEF9-BEAEAB16200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disposal account confirms the profit of KES 200,000.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Credit side (4,200,000) exceeds debit side (4,000,000) by KES 200,000 → PROFIT.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profit is recorded as income in the Statement of Profit or Loss for the period ending 30 June 2025.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Ask: "Would this profit be included in gross profit or below the line?"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→ Below the line — it is not part of normal trading activity. It appears as 'other income'.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F06751F-8BBA-4B95-BEC4-06262A700D9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Discussion questions — give trainees 5 minutes to think and write answers before discussing as a class.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These questions test conceptual understanding, not just computation.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Encourage trainees to use accounting terminology in their answers.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35B7599-8769-4F61-9F17-95251778B4A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answers — go through each part: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(a) Land: unlimited life → no depreciation. Buildings: finite life → depreciated. IAS 16 requires depreciation only where useful life is finite.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(b) Computers: rapid early obsolescence → reducing balance better reflects the pattern of economic benefit consumption. Also matches higher maintenance costs in later years with lower depreciation charges.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(c) Matching Principle and Prudence — both are examinable. Trainees should be able to explain HOW each principle applies, not just name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8565DCF-EA17-474A-9863-BF7506BC339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References slide — remind trainees of the importance of citing sources in their written work.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IAS 16 is the primary standard for fixed assets. Available free on the IFRS Foundation website.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Weygandt et al. is a widely used financial accounting textbook — available in the library.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TVET assessments, trainees are expected to reference IAS 16 when explaining recognition and measurement of fixed assets.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6DF5B77-4424-4CDF-A801-58353C835BC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Week 5.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Recap the 8 learning outcomes — ask trainees to self-assess: which LOs are they confident about? Which need more practice?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Assign the Standard Assessment Questions document as homework — all 12 questions to be attempted before the next session.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Next week: [insert Week 6 topic].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Thank trainees for their participation.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712F7E6-8923-4D3B-B122-A0A77E07662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3F3D9B1-BB99-453F-A734-C72D1575344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title text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2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A30C55B-B9EA-446C-8CC8-EEB435529E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B30209A-3904-4868-A5AA-F9575D8633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B5B260B-4136-4704-A94D-FE2CD13048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0C43EEC-7008-4B2C-ACF3-987B9850F34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DEF8BD5-E0CD-452C-845F-139711F104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3DED6BE-C055-43EC-86DD-5FB80843AD6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CEA3070-5B74-43CF-9135-6DCDF3A728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DF1BF36-0A73-4A54-BC42-78C842655B9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55E9AEA-BB98-4189-B175-DBCD62CE634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4901720-AD6E-4C9D-B46E-46C518E5945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0" y="5120640"/>
            <a:ext cx="12188160" cy="17366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457200" y="1371600"/>
            <a:ext cx="1124640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WEEK 5: ACCOUNT FOR FIXED ASSETS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(NON-CURRENT ASSETS)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457200" y="3840480"/>
            <a:ext cx="112464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BDD7EE"/>
                </a:solidFill>
                <a:effectLst/>
                <a:uFillTx/>
                <a:latin typeface="Calibri"/>
              </a:rPr>
              <a:t>Unit Code: BS/C/7119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457200" y="5303520"/>
            <a:ext cx="112464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BS/C/7119 — Apply Fundamentals of Accounting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Facilitator: S. N. Ngigi | Kenya School of TVET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Learning Outcomes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4"/>
          <p:cNvSpPr/>
          <p:nvPr/>
        </p:nvSpPr>
        <p:spPr>
          <a:xfrm>
            <a:off x="320040" y="1143000"/>
            <a:ext cx="11612160" cy="53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By the end of this presentation, trainees should be able to: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1.  Define the term fixed asset and explain its recognition under relevant accounting standards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2.  Account for acquisition of fixed assets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3.  Compute depreciation using different methods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4.  Account for depreciation and maintain the provision for depreciation account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5.  Account for the disposal of fixed assets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6.  Calculate profit or loss on disposal of fixed assets and record the necessary journal entries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7.  Apply accounting principles in handling fixed assets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LO1 — Definition of Fixed Asset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4"/>
          <p:cNvSpPr/>
          <p:nvPr/>
        </p:nvSpPr>
        <p:spPr>
          <a:xfrm>
            <a:off x="320040" y="1143000"/>
            <a:ext cx="11612160" cy="53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A fixed asset (non-current asset) is an asset acquired for long-term use in the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business (more than one accounting period) and NOT intended for resale.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Under IAS 16 — Property, Plant and Equipment, a fixed asset is a tangible item that: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✔  Is held for use in production, supply of goods/services, rental, or administration; AND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✔  Is expected to be used during MORE THAN ONE accounting period (IASB, 2003, para. 6)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Examples (Kenya context):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• Land &amp; buildings  •  Motor vehicles  •  Plant &amp; machinery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• Furniture &amp; fittings  •  Computer equipment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LO1 — Recognition Criteria (IAS 16, para. 7)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4"/>
          <p:cNvSpPr/>
          <p:nvPr/>
        </p:nvSpPr>
        <p:spPr>
          <a:xfrm>
            <a:off x="320040" y="1143000"/>
            <a:ext cx="11612160" cy="53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A fixed asset is recognised in the books ONLY when BOTH conditions are met: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1.  It is PROBABLE that future economic benefits will flow to the entity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2.  The COST of the asset can be MEASURED RELIABLY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If either condition is NOT met → expenditure is treated as an EXPENSE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in the period it is incurred (not capitalised).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⚠  Note: Land is NOT depreciated — it has an unlimited useful life.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 (Exception: quarries, leasehold land)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LO2 — Acquisition of Fixed Assets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4"/>
          <p:cNvSpPr/>
          <p:nvPr/>
        </p:nvSpPr>
        <p:spPr>
          <a:xfrm>
            <a:off x="320040" y="1143000"/>
            <a:ext cx="11612160" cy="31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The acquisition of a fixed asset is the process by which an entity obtains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ownership or control of a non-current asset — whether through: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• Outright purchase  • Exchange   • Finance lease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The asset is initially recorded at its COST (Weygandt, Kimmel, &amp; Kieso, 2018).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Historical Cost (IAS 16, para. 16) includes: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✔  Purchase price (less trade discounts, plus import duties)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✔  Directly attributable costs: delivery, installation, testing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✘  NOT: routine repairs, admin overhead, costs after asset is operational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LO2 — Example: Cost of a Machine [QUESTION]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4"/>
          <p:cNvSpPr/>
          <p:nvPr/>
        </p:nvSpPr>
        <p:spPr>
          <a:xfrm>
            <a:off x="320040" y="1143000"/>
            <a:ext cx="11612160" cy="53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Mwangi is setting up a factory in Athi River.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He incurs the following costs in acquiring a new machine: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• Purchase price:          KES 800,000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• Delivery charges:        KES  25,000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• Installation costs:      KES  40,000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• Testing and trial runs:  KES  15,000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Required: Calculate the TOTAL COST to be capitalised for this machine.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LO2 — Cost of a Machine — ANSWER (Mwangi, Athi River)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5" name="Table 4"/>
          <p:cNvGraphicFramePr/>
          <p:nvPr/>
        </p:nvGraphicFramePr>
        <p:xfrm>
          <a:off x="320040" y="1188720"/>
          <a:ext cx="11520720" cy="2302560"/>
        </p:xfrm>
        <a:graphic>
          <a:graphicData uri="http://schemas.openxmlformats.org/drawingml/2006/table">
            <a:tbl>
              <a:tblPr/>
              <a:tblGrid>
                <a:gridCol w="7772400"/>
                <a:gridCol w="3748680"/>
              </a:tblGrid>
              <a:tr h="383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Item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Amount (KES)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Purchase price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800,000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Delivery charges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25,000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Installation costs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40,000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Testing and trial runs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15,000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TOTAL COST TO CAPITALISE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880,000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LO2 — Recording Acquisitions: Journal Entries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9" name="Table 4"/>
          <p:cNvGraphicFramePr/>
          <p:nvPr/>
        </p:nvGraphicFramePr>
        <p:xfrm>
          <a:off x="320040" y="1188720"/>
          <a:ext cx="11521080" cy="153504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  <a:gridCol w="3840480"/>
              </a:tblGrid>
              <a:tr h="383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Method of Purchase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Debit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Credit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Cash purchase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Fixed Asset Account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Cash / Bank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Credit purchase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Fixed Asset Account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Supplier (Creditor)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Loan-financed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Fixed Asset Account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Loan Account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LO3 — Depreciation: Definition &amp; Key Terms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4"/>
          <p:cNvSpPr/>
          <p:nvPr/>
        </p:nvSpPr>
        <p:spPr>
          <a:xfrm>
            <a:off x="320040" y="1143000"/>
            <a:ext cx="11612160" cy="53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Depreciation is the SYSTEMATIC ALLOCATION of the depreciable amount of 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non-current asset over its estimated useful life (IASB, 2003, para. 6).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• Depreciable Amount  =  Cost − Residual (Salvage) Value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• Useful Life          =  Period over which the asset is expected to be used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• Net Book Value (NBV) =  Cost − Accumulated Depreciation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Reasons: Wear &amp; tear  |  Passage of time  |  Obsolescence  |  Depletion  |  Legal limits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LO3 — Straight-Line Method: Example [QUESTION]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4"/>
          <p:cNvSpPr/>
          <p:nvPr/>
        </p:nvSpPr>
        <p:spPr>
          <a:xfrm>
            <a:off x="320040" y="1143000"/>
            <a:ext cx="11612160" cy="53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Wanjiku Transport, Nairobi, purchases a delivery van: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• Cost: KES 2,000,000  |  Residual value: KES 200,000  |  Life: 5 years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• Method: Straight-Line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Required: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(a) Calculate the annual depreciation charge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(b) Prepare a 5-year depreciation schedule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LO3 — Straight-Line Method: ANSWER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4"/>
          <p:cNvSpPr/>
          <p:nvPr/>
        </p:nvSpPr>
        <p:spPr>
          <a:xfrm>
            <a:off x="320040" y="1143000"/>
            <a:ext cx="11612160" cy="53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Formula:  Annual Depreciation = (Cost − Residual Value) ÷ Useful Life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= (2,000,000 − 200,000) ÷ 5  =  KES 360,000 per year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LO3 — Straight-Line Schedule (Wanjiku Transport)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5" name="Table 4"/>
          <p:cNvGraphicFramePr/>
          <p:nvPr/>
        </p:nvGraphicFramePr>
        <p:xfrm>
          <a:off x="320040" y="1188720"/>
          <a:ext cx="11521080" cy="230256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560320"/>
                <a:gridCol w="2560320"/>
                <a:gridCol w="2743200"/>
              </a:tblGrid>
              <a:tr h="383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Year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Cost (KES)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Annual Dep'n (KES)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Acc. Dep'n (KES)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NBV (KES)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2,000,000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360,000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360,000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1,640,000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2,000,000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360,000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720,000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1,280,000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2,000,000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360,000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1,080,000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920,000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2,000,000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360,000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1,440,000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560,000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2,000,000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360,000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1,800,000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200,000 ✓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LO3 — Reducing Balance Method: Example [QUESTION]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4"/>
          <p:cNvSpPr/>
          <p:nvPr/>
        </p:nvSpPr>
        <p:spPr>
          <a:xfrm>
            <a:off x="320040" y="1143000"/>
            <a:ext cx="11612160" cy="53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Ochieng Engineering, Kisumu, purchases machinery: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• Cost: KES 1,000,000  |  Rate: 25% p.a. reducing balance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Required: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(a) Calculate depreciation for each of the first 5 years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(b) Prepare a depreciation schedule showing NBV at end of each year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LO3 — Reducing Balance Method: ANSWER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4"/>
          <p:cNvSpPr/>
          <p:nvPr/>
        </p:nvSpPr>
        <p:spPr>
          <a:xfrm>
            <a:off x="320040" y="1143000"/>
            <a:ext cx="11612160" cy="53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Formula:  Annual Depreciation = Rate (%) × NBV at start of year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Gives HIGHER depreciation in early years, LOWER in later years.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The asset is NEVER fully depreciated to zero under this method.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LO3 — Reducing Balance Schedule (Ochieng Engineering)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7" name="Table 4"/>
          <p:cNvGraphicFramePr/>
          <p:nvPr/>
        </p:nvGraphicFramePr>
        <p:xfrm>
          <a:off x="320040" y="1188720"/>
          <a:ext cx="11521080" cy="2302560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  <a:gridCol w="2286000"/>
                <a:gridCol w="2560320"/>
                <a:gridCol w="2743200"/>
              </a:tblGrid>
              <a:tr h="383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Year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NBV at Start (KES)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Dep'n 25% (KES)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Acc. Dep'n (KES)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NBV at End (KES)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1,000,000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250,000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250,000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750,000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750,000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187,500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437,500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562,500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562,500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140,625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578,125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421,875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421,875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105,469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683,594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316,406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316,406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79,102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762,696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237,304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LO3 — Comparison of Depreciation Methods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Table 4"/>
          <p:cNvGraphicFramePr/>
          <p:nvPr/>
        </p:nvGraphicFramePr>
        <p:xfrm>
          <a:off x="320040" y="1188720"/>
          <a:ext cx="11521080" cy="2302560"/>
        </p:xfrm>
        <a:graphic>
          <a:graphicData uri="http://schemas.openxmlformats.org/drawingml/2006/table">
            <a:tbl>
              <a:tblPr/>
              <a:tblGrid>
                <a:gridCol w="3200400"/>
                <a:gridCol w="4114800"/>
                <a:gridCol w="4206240"/>
              </a:tblGrid>
              <a:tr h="383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Feature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Straight-Line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Reducing Balance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Annual charge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Equal each year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Decreasing each year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Early years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Lower charge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Higher charge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Later years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Same charge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Lower charge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Best suited for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Furniture, buildings (even wear)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Vehicles, computers (rapid early loss)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IAS 16 compliant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Yes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Yes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LO4 — Accounting for Depreciation Charges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4"/>
          <p:cNvSpPr/>
          <p:nvPr/>
        </p:nvSpPr>
        <p:spPr>
          <a:xfrm>
            <a:off x="320040" y="1143000"/>
            <a:ext cx="11612160" cy="53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Each year, depreciation is recorded with the following double entry: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Dr  Depreciation Expense (Income Statement)   XXX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Cr  Provision for Depreciation Account            XXX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Example — Wanjiku Transport (KES 360,000/year, straight-line):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Dr  Depreciation Expense          360,000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Cr  Provision for Depreciation              360,000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At year end, Depreciation Expense is transferred to P&amp;L: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Dr  Profit &amp; Loss    360,000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Cr  Depreciation Expense          360,000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LO4 — Provision for Depreciation: Concept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4"/>
          <p:cNvSpPr/>
          <p:nvPr/>
        </p:nvSpPr>
        <p:spPr>
          <a:xfrm>
            <a:off x="320040" y="1143000"/>
            <a:ext cx="11612160" cy="53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The Provision for Depreciation Account is a CONTRA-ASSET account that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accumulates total depreciation charged on a fixed asset since acquisition.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Why keep it separate from the asset account?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• The asset account stays at HISTORICAL COST throughout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• Accumulated depreciation is deducted on the Balance Sheet to show NBV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Balance Sheet presentation: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Motor Vehicle (at cost)              KES 2,000,000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Less: Provision for Depreciation        (720,000)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Net Book Value                       KES 1,280,000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LO4 — Provision for Depreciation Ledger [QUESTION]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4"/>
          <p:cNvSpPr/>
          <p:nvPr/>
        </p:nvSpPr>
        <p:spPr>
          <a:xfrm>
            <a:off x="320040" y="1143000"/>
            <a:ext cx="11612160" cy="53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Using Wanjiku Transport's delivery van: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• Cost: KES 2,000,000  |  Annual depreciation: KES 360,000 (straight-line)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Required — prepare ledger accounts for Years 1, 2, and 3: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(a) Motor Vehicle Account (at cost)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(b) Provision for Depreciation — Motor Vehicle Account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(c) Depreciation Expense Account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LO4 — Provision for Depreciation Ledger — ANSWER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4"/>
          <p:cNvSpPr/>
          <p:nvPr/>
        </p:nvSpPr>
        <p:spPr>
          <a:xfrm>
            <a:off x="320040" y="1143000"/>
            <a:ext cx="11520720" cy="5394240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5"/>
          <p:cNvSpPr/>
          <p:nvPr/>
        </p:nvSpPr>
        <p:spPr>
          <a:xfrm>
            <a:off x="502920" y="1234440"/>
            <a:ext cx="11154960" cy="52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D4D4D4"/>
                </a:solidFill>
                <a:effectLst/>
                <a:uFillTx/>
                <a:latin typeface="Calibri"/>
              </a:rPr>
              <a:t>  Motor Vehicle Account (at cost) — remains at KES 2,000,000 throughout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D4D4D4"/>
                </a:solidFill>
                <a:effectLst/>
                <a:uFillTx/>
                <a:latin typeface="Calibri"/>
              </a:rPr>
              <a:t>  Provision for Depreciation — Motor Vehicle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D4D4D4"/>
                </a:solidFill>
                <a:effectLst/>
                <a:uFillTx/>
                <a:latin typeface="Calibri"/>
              </a:rPr>
              <a:t>  ──────────────────────────────────────────────────────────────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D4D4D4"/>
                </a:solidFill>
                <a:effectLst/>
                <a:uFillTx/>
                <a:latin typeface="Calibri"/>
              </a:rPr>
              <a:t>  Dr                                  Cr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D4D4D4"/>
                </a:solidFill>
                <a:effectLst/>
                <a:uFillTx/>
                <a:latin typeface="Calibri"/>
              </a:rPr>
              <a:t>  ──────────────────────────────────────────────────────────────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D4D4D4"/>
                </a:solidFill>
                <a:effectLst/>
                <a:uFillTx/>
                <a:latin typeface="Calibri"/>
              </a:rPr>
              <a:t>  YEAR 1:  Bal c/d    360,000  |  Dep'n Expense      360,000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D4D4D4"/>
                </a:solidFill>
                <a:effectLst/>
                <a:uFillTx/>
                <a:latin typeface="Calibri"/>
              </a:rPr>
              <a:t>  YEAR 2:  Bal c/d    720,000  |  Bal b/d    360,000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D4D4D4"/>
                </a:solidFill>
                <a:effectLst/>
                <a:uFillTx/>
                <a:latin typeface="Calibri"/>
              </a:rPr>
              <a:t>                               |  Dep'n Exp  360,000  = 720,000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D4D4D4"/>
                </a:solidFill>
                <a:effectLst/>
                <a:uFillTx/>
                <a:latin typeface="Calibri"/>
              </a:rPr>
              <a:t>  YEAR 3:  Bal c/d  1,080,000  |  Bal b/d    720,000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D4D4D4"/>
                </a:solidFill>
                <a:effectLst/>
                <a:uFillTx/>
                <a:latin typeface="Calibri"/>
              </a:rPr>
              <a:t>                               |  Dep'n Exp  360,000  = 1,080,000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D4D4D4"/>
                </a:solidFill>
                <a:effectLst/>
                <a:uFillTx/>
                <a:latin typeface="Calibri"/>
              </a:rPr>
              <a:t>  Depreciation Expense Account (each year):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D4D4D4"/>
                </a:solidFill>
                <a:effectLst/>
                <a:uFillTx/>
                <a:latin typeface="Calibri"/>
              </a:rPr>
              <a:t>  Dr  Prov for Dep'n  360,000  |  Cr  P&amp;L  360,000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LO5 — Disposal of Fixed Assets: When &amp; Steps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4"/>
          <p:cNvSpPr/>
          <p:nvPr/>
        </p:nvSpPr>
        <p:spPr>
          <a:xfrm>
            <a:off x="320040" y="1143000"/>
            <a:ext cx="11612160" cy="28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Assets are disposed of when: sold, traded in, scrapped, stolen or destroyed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A DISPOSAL ACCOUNT is opened. Steps: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1. Remove asset at cost       →  Dr Disposal A/c,  Cr Asset A/c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2. Remove accumulated dep'n   →  Dr Prov for Dep'n,  Cr Disposal A/c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3. Record proceeds            →  Dr Cash/Bank,  Cr Disposal A/c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4. Transfer balance: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     Profit (credit balance)  →  Dr Disposal A/c,  Cr P&amp;L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     Loss   (debit balance)   →  Dr P&amp;L,  Cr Disposal A/c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LO5 — Disposal at a PROFIT [QUESTION] (Kamau Traders, Nakuru)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4"/>
          <p:cNvSpPr/>
          <p:nvPr/>
        </p:nvSpPr>
        <p:spPr>
          <a:xfrm>
            <a:off x="320040" y="1143000"/>
            <a:ext cx="11612160" cy="53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Kamau Traders purchased office furniture on 1 January 2023 for KES 200,000.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Depreciation: 10% per annum, straight-line.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Sold on 1 January 2026 for KES 160,000 cash.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Required: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(a) Calculate accumulated depreciation and NBV at disposal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(b) Prepare the Disposal Account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LO5 — Disposal at a PROFIT — ANSWER (Kamau Traders)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4"/>
          <p:cNvSpPr/>
          <p:nvPr/>
        </p:nvSpPr>
        <p:spPr>
          <a:xfrm>
            <a:off x="320040" y="1143000"/>
            <a:ext cx="11612160" cy="34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l"/>
            <a:r>
              <a:rPr sz="1700">
                <a:solidFill>
                  <a:srgbClr val="262626"/>
                </a:solidFill>
              </a:rPr>
              <a:t>Accumulated Dep'n = 3 years × 10% × 200,000 = KES 60,000</a:t>
            </a:r>
          </a:p>
          <a:p>
            <a:pPr algn="l"/>
            <a:r>
              <a:rPr sz="1700">
                <a:solidFill>
                  <a:srgbClr val="262626"/>
                </a:solidFill>
              </a:rPr>
              <a:t>NBV at disposal = 200,000 − 60,000 = KES 140,000</a:t>
            </a:r>
          </a:p>
          <a:p>
            <a:pPr algn="l"/>
            <a:r>
              <a:rPr sz="1700">
                <a:solidFill>
                  <a:srgbClr val="262626"/>
                </a:solidFill>
              </a:rPr>
              <a:t/>
            </a:r>
          </a:p>
          <a:p>
            <a:pPr algn="l"/>
            <a:r>
              <a:rPr sz="1700">
                <a:solidFill>
                  <a:srgbClr val="262626"/>
                </a:solidFill>
              </a:rPr>
              <a:t>Disposal Account:</a:t>
            </a:r>
          </a:p>
          <a:p>
            <a:pPr algn="l"/>
            <a:r>
              <a:rPr sz="1700">
                <a:solidFill>
                  <a:srgbClr val="262626"/>
                </a:solidFill>
              </a:rPr>
              <a:t>  Dr  Furniture (cost)    200,000  |  Cr  Prov for Dep'n    60,000</a:t>
            </a:r>
          </a:p>
          <a:p>
            <a:pPr algn="l"/>
            <a:r>
              <a:rPr sz="1700">
                <a:solidFill>
                  <a:srgbClr val="262626"/>
                </a:solidFill>
              </a:rPr>
              <a:t>  Dr  P&amp;L (Profit)         20,000  |  Cr  Cash             160,000</a:t>
            </a:r>
          </a:p>
          <a:p>
            <a:pPr algn="l"/>
            <a:r>
              <a:rPr sz="1700">
                <a:solidFill>
                  <a:srgbClr val="262626"/>
                </a:solidFill>
              </a:rPr>
              <a:t>  ───────────────────────────────────────────────────────────────</a:t>
            </a:r>
          </a:p>
          <a:p>
            <a:pPr algn="l"/>
            <a:r>
              <a:rPr sz="1700">
                <a:solidFill>
                  <a:srgbClr val="262626"/>
                </a:solidFill>
              </a:rPr>
              <a:t>                           220,000  |                       220,000</a:t>
            </a:r>
          </a:p>
          <a:p>
            <a:pPr algn="l"/>
            <a:r>
              <a:rPr sz="1700">
                <a:solidFill>
                  <a:srgbClr val="262626"/>
                </a:solidFill>
              </a:rPr>
              <a:t/>
            </a:r>
          </a:p>
          <a:p>
            <a:pPr algn="l"/>
            <a:r>
              <a:rPr sz="1700">
                <a:solidFill>
                  <a:srgbClr val="262626"/>
                </a:solidFill>
              </a:rPr>
              <a:t>PROFIT ON DISPOSAL = KES 20,000  →  Income in P&amp;L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LO5 — Disposal at a LOSS [QUESTION] (Atieno Supplies, Kisumu)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4"/>
          <p:cNvSpPr/>
          <p:nvPr/>
        </p:nvSpPr>
        <p:spPr>
          <a:xfrm>
            <a:off x="320040" y="1143000"/>
            <a:ext cx="11612160" cy="53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Atieno Supplies purchased a computer on 1 January 2024 for KES 120,000.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Depreciation: 25% per annum, reducing balance.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Sold on 31 December 2025 for KES 50,000.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Required: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(a) Calculate Year 1 and Year 2 depreciation, accumulated dep'n and NBV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(b) Prepare the Disposal Account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LO5 — Disposal at a LOSS — ANSWER (Atieno Supplies)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4"/>
          <p:cNvSpPr/>
          <p:nvPr/>
        </p:nvSpPr>
        <p:spPr>
          <a:xfrm>
            <a:off x="320040" y="1143000"/>
            <a:ext cx="11612160" cy="53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l"/>
            <a:r>
              <a:rPr sz="1700">
                <a:solidFill>
                  <a:srgbClr val="262626"/>
                </a:solidFill>
              </a:rPr>
              <a:t>Year 1: 25% × 120,000 = 30,000  →  NBV = 90,000</a:t>
            </a:r>
          </a:p>
          <a:p>
            <a:pPr algn="l"/>
            <a:r>
              <a:rPr sz="1700">
                <a:solidFill>
                  <a:srgbClr val="262626"/>
                </a:solidFill>
              </a:rPr>
              <a:t>Year 2: 25% × 90,000  = 22,500  →  NBV = 67,500</a:t>
            </a:r>
          </a:p>
          <a:p>
            <a:pPr algn="l"/>
            <a:r>
              <a:rPr sz="1700">
                <a:solidFill>
                  <a:srgbClr val="262626"/>
                </a:solidFill>
              </a:rPr>
              <a:t>Accumulated Dep'n = KES 52,500</a:t>
            </a:r>
          </a:p>
          <a:p>
            <a:pPr algn="l"/>
            <a:r>
              <a:rPr sz="1700">
                <a:solidFill>
                  <a:srgbClr val="262626"/>
                </a:solidFill>
              </a:rPr>
              <a:t/>
            </a:r>
          </a:p>
          <a:p>
            <a:pPr algn="l"/>
            <a:r>
              <a:rPr sz="1700">
                <a:solidFill>
                  <a:srgbClr val="262626"/>
                </a:solidFill>
              </a:rPr>
              <a:t>Disposal Account:</a:t>
            </a:r>
          </a:p>
          <a:p>
            <a:pPr algn="l"/>
            <a:r>
              <a:rPr sz="1700">
                <a:solidFill>
                  <a:srgbClr val="262626"/>
                </a:solidFill>
              </a:rPr>
              <a:t>  Dr  Computer (cost)     120,000  |  Cr  Prov for Dep'n    52,500</a:t>
            </a:r>
          </a:p>
          <a:p>
            <a:pPr algn="l"/>
            <a:r>
              <a:rPr sz="1700">
                <a:solidFill>
                  <a:srgbClr val="262626"/>
                </a:solidFill>
              </a:rPr>
              <a:t>                                   |  Cr  Cash              50,000</a:t>
            </a:r>
          </a:p>
          <a:p>
            <a:pPr algn="l"/>
            <a:r>
              <a:rPr sz="1700">
                <a:solidFill>
                  <a:srgbClr val="262626"/>
                </a:solidFill>
              </a:rPr>
              <a:t>                                   |  Cr  P&amp;L (Loss)        17,500</a:t>
            </a:r>
          </a:p>
          <a:p>
            <a:pPr algn="l"/>
            <a:r>
              <a:rPr sz="1700">
                <a:solidFill>
                  <a:srgbClr val="262626"/>
                </a:solidFill>
              </a:rPr>
              <a:t>  ───────────────────────────────────────────────────────────────</a:t>
            </a:r>
          </a:p>
          <a:p>
            <a:pPr algn="l"/>
            <a:r>
              <a:rPr sz="1700">
                <a:solidFill>
                  <a:srgbClr val="262626"/>
                </a:solidFill>
              </a:rPr>
              <a:t>                           120,000  |                       120,000</a:t>
            </a:r>
          </a:p>
          <a:p>
            <a:pPr algn="l"/>
            <a:r>
              <a:rPr sz="1700">
                <a:solidFill>
                  <a:srgbClr val="262626"/>
                </a:solidFill>
              </a:rPr>
              <a:t/>
            </a:r>
          </a:p>
          <a:p>
            <a:pPr algn="l"/>
            <a:r>
              <a:rPr sz="1700">
                <a:solidFill>
                  <a:srgbClr val="262626"/>
                </a:solidFill>
              </a:rPr>
              <a:t>LOSS ON DISPOSAL = KES 17,500  →  Expense in P&amp;L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LO6 — Journal Entries for Disposal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2" name="Table 4"/>
          <p:cNvGraphicFramePr/>
          <p:nvPr/>
        </p:nvGraphicFramePr>
        <p:xfrm>
          <a:off x="320040" y="1188720"/>
          <a:ext cx="11521080" cy="2302560"/>
        </p:xfrm>
        <a:graphic>
          <a:graphicData uri="http://schemas.openxmlformats.org/drawingml/2006/table">
            <a:tbl>
              <a:tblPr/>
              <a:tblGrid>
                <a:gridCol w="914400"/>
                <a:gridCol w="3474720"/>
                <a:gridCol w="3474720"/>
                <a:gridCol w="3657600"/>
              </a:tblGrid>
              <a:tr h="383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Step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Narrative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Debit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Credit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Remove asset at cost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Disposal Account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Asset Account (cost)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Remove accumulated dep'n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Provision for Depreciation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Disposal Account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Record proceeds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Cash / Bank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Disposal Account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4a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Profit (credit balance)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Disposal Account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P&amp;L — Profit on Disposal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4b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Loss (debit balance)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P&amp;L — Loss on Disposal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Disposal Account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LO6 — Journal Entries: Kamau Traders (Profit Example)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6" name="Table 4"/>
          <p:cNvGraphicFramePr/>
          <p:nvPr/>
        </p:nvGraphicFramePr>
        <p:xfrm>
          <a:off x="320040" y="1188720"/>
          <a:ext cx="11521080" cy="3453840"/>
        </p:xfrm>
        <a:graphic>
          <a:graphicData uri="http://schemas.openxmlformats.org/drawingml/2006/table">
            <a:tbl>
              <a:tblPr/>
              <a:tblGrid>
                <a:gridCol w="731520"/>
                <a:gridCol w="5943600"/>
                <a:gridCol w="2377440"/>
                <a:gridCol w="2468880"/>
              </a:tblGrid>
              <a:tr h="383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Step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Account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Dr (KES)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Cr (KES)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Disposal Account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Furniture Account (at cost)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Provision for Depreciation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60,000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Disposal Account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60,000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Cash / Bank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160,000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Disposal Account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160,000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Disposal Account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P&amp;L — Profit on Disposal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LO6 — Journal Entries: Atieno Supplies (Loss Example)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0" name="Table 4"/>
          <p:cNvGraphicFramePr/>
          <p:nvPr/>
        </p:nvGraphicFramePr>
        <p:xfrm>
          <a:off x="320040" y="1188720"/>
          <a:ext cx="11521080" cy="3453840"/>
        </p:xfrm>
        <a:graphic>
          <a:graphicData uri="http://schemas.openxmlformats.org/drawingml/2006/table">
            <a:tbl>
              <a:tblPr/>
              <a:tblGrid>
                <a:gridCol w="731520"/>
                <a:gridCol w="5943600"/>
                <a:gridCol w="2377440"/>
                <a:gridCol w="2468880"/>
              </a:tblGrid>
              <a:tr h="383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Step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Account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Dr (KES)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Cr (KES)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Disposal Account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120,000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Computer Account (at cost)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120,000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Provision for Depreciation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52,500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Disposal Account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52,500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Cash / Bank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50,000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Disposal Account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50,000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P&amp;L — Loss on Disposal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17,500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Disposal Account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17,500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LO7 — Accounting Principles in Handling Fixed Assets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4" name="Table 4"/>
          <p:cNvGraphicFramePr/>
          <p:nvPr/>
        </p:nvGraphicFramePr>
        <p:xfrm>
          <a:off x="320040" y="1188720"/>
          <a:ext cx="11521080" cy="3070080"/>
        </p:xfrm>
        <a:graphic>
          <a:graphicData uri="http://schemas.openxmlformats.org/drawingml/2006/table">
            <a:tbl>
              <a:tblPr/>
              <a:tblGrid>
                <a:gridCol w="4114800"/>
                <a:gridCol w="7406640"/>
              </a:tblGrid>
              <a:tr h="383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Principle / Standard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Application to Fixed Assets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Historical Cost (IAS 16)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Initially recorded at cost — amount paid to acquire &amp; bring into use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Matching (Accruals)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Depreciation charged in the period the asset generates revenue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Consistency (IAS 16, para. 61)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Same depreciation method applied each period; changes require disclosure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Prudence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Assets not overstated; impairment loss recognised if NBV &gt; recoverable amount (IAS 36)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Going Concern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Assets depreciated over useful life assuming business will continue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Materiality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Low-value items may be expensed immediately rather than capitalised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Substance over Form (IFRS 16)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Finance lease assets capitalised even without legal ownership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LO7 — IAS 16 Summary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4"/>
          <p:cNvSpPr/>
          <p:nvPr/>
        </p:nvSpPr>
        <p:spPr>
          <a:xfrm>
            <a:off x="320040" y="1143000"/>
            <a:ext cx="11612160" cy="53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Initial recognition:    at COST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Subsequent measurement — choose one model: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• Cost Model:        Cost less accumulated depreciation and impairment losses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• Revaluation Model: Fair value less subsequent depreciation and impairment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Depreciation method must reflect the PATTERN OF CONSUMPTION of economic benefits.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Residual value &amp; useful life reviewed at least at EACH FINANCIAL YEAR-END.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Practice Q1 — Depreciation [QUESTION]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4"/>
          <p:cNvSpPr/>
          <p:nvPr/>
        </p:nvSpPr>
        <p:spPr>
          <a:xfrm>
            <a:off x="320040" y="1143000"/>
            <a:ext cx="11612160" cy="53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Nyambura Agribusiness, Nanyuki, purchased a tractor on 1 July 2024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for KES 3,600,000. Residual value: KES 600,000. Useful life: 5 years. Year end: 30 June.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Required: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(a) Depreciation schedule for 5 years — STRAIGHT-LINE method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(b) Depreciation schedule for 5 years — REDUCING BALANCE at 30% p.a.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Q1(a) ANSWER — Straight-Line  |  Annual Dep'n = (3,600,000−600,000)÷5 = KES 600,000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6" name="Table 4"/>
          <p:cNvGraphicFramePr/>
          <p:nvPr/>
        </p:nvGraphicFramePr>
        <p:xfrm>
          <a:off x="320040" y="1188720"/>
          <a:ext cx="11521080" cy="230256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  <a:gridCol w="2560320"/>
                <a:gridCol w="2560320"/>
                <a:gridCol w="2286000"/>
              </a:tblGrid>
              <a:tr h="383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Year Ending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Cost (KES)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Annual Dep'n (KES)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Acc. Dep'n (KES)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NBV (KES)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30 Jun 2025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3,600,000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600,000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600,000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3,000,000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30 Jun 2026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3,600,000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600,000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1,200,000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2,400,000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30 Jun 2027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3,600,000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600,000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1,800,000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1,800,000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30 Jun 2028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3,600,000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600,000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2,400,000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1,200,000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30 Jun 2029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3,600,000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600,000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3,000,000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600,000 ✓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Q1(b) ANSWER — Reducing Balance at 30% p.a.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00" name="Table 4"/>
          <p:cNvGraphicFramePr/>
          <p:nvPr/>
        </p:nvGraphicFramePr>
        <p:xfrm>
          <a:off x="320040" y="1188720"/>
          <a:ext cx="11521080" cy="230256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2286000"/>
                <a:gridCol w="2560320"/>
                <a:gridCol w="2286000"/>
              </a:tblGrid>
              <a:tr h="383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Year Ending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NBV at Start (KES)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Dep'n 30% (KES)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Acc. Dep'n (KES)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NBV at End (KES)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30 Jun 2025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3,600,000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1,080,000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1,080,000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2,520,000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30 Jun 2026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2,520,000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756,000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1,836,000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1,764,000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30 Jun 2027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1,764,000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529,200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2,365,200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1,234,800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30 Jun 2028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1,234,800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370,440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2,735,640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864,360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30 Jun 2029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864,360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259,308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2,994,948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605,052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Practice Q2 — Disposal [QUESTION]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4"/>
          <p:cNvSpPr/>
          <p:nvPr/>
        </p:nvSpPr>
        <p:spPr>
          <a:xfrm>
            <a:off x="320040" y="1143000"/>
            <a:ext cx="11612160" cy="53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Mutua Logistics, Machakos, purchased a lorry on 1 January 2023 for KES 4,000,000.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Depreciation: 20% straight-line, no residual value.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Lorry sold on 30 June 2025 for KES 2,200,000.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Required: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(a) Calculate accumulated depreciation at the date of disposal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(b) Prepare the Disposal Account and all journal entries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(c) State whether there was a profit or loss on disposal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Q2(a) ANSWER — Accumulated Depreciation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4"/>
          <p:cNvSpPr/>
          <p:nvPr/>
        </p:nvSpPr>
        <p:spPr>
          <a:xfrm>
            <a:off x="320040" y="1143000"/>
            <a:ext cx="11612160" cy="53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l"/>
            <a:r>
              <a:rPr sz="1700">
                <a:solidFill>
                  <a:srgbClr val="262626"/>
                </a:solidFill>
              </a:rPr>
              <a:t>Annual depreciation = 20% × KES 4,000,000 = KES 800,000</a:t>
            </a:r>
          </a:p>
          <a:p>
            <a:pPr algn="l"/>
            <a:r>
              <a:rPr sz="1700">
                <a:solidFill>
                  <a:srgbClr val="262626"/>
                </a:solidFill>
              </a:rPr>
              <a:t/>
            </a:r>
          </a:p>
          <a:p>
            <a:pPr algn="l"/>
            <a:r>
              <a:rPr sz="1700">
                <a:solidFill>
                  <a:srgbClr val="262626"/>
                </a:solidFill>
              </a:rPr>
              <a:t>  2023 (full year):           KES   800,000</a:t>
            </a:r>
          </a:p>
          <a:p>
            <a:pPr algn="l"/>
            <a:r>
              <a:rPr sz="1700">
                <a:solidFill>
                  <a:srgbClr val="262626"/>
                </a:solidFill>
              </a:rPr>
              <a:t>  2024 (full year):           KES   800,000</a:t>
            </a:r>
          </a:p>
          <a:p>
            <a:pPr algn="l"/>
            <a:r>
              <a:rPr sz="1700">
                <a:solidFill>
                  <a:srgbClr val="262626"/>
                </a:solidFill>
              </a:rPr>
              <a:t>  2025 (half year Jan–Jun):   KES   400,000</a:t>
            </a:r>
          </a:p>
          <a:p>
            <a:pPr algn="l"/>
            <a:r>
              <a:rPr sz="1700">
                <a:solidFill>
                  <a:srgbClr val="262626"/>
                </a:solidFill>
              </a:rPr>
              <a:t>  ───────────────────────────────────────────</a:t>
            </a:r>
          </a:p>
          <a:p>
            <a:pPr algn="l"/>
            <a:r>
              <a:rPr sz="1700">
                <a:solidFill>
                  <a:srgbClr val="262626"/>
                </a:solidFill>
              </a:rPr>
              <a:t>  Total accumulated dep'n:    KES 2,000,000</a:t>
            </a:r>
          </a:p>
          <a:p>
            <a:pPr algn="l"/>
            <a:r>
              <a:rPr sz="1700">
                <a:solidFill>
                  <a:srgbClr val="262626"/>
                </a:solidFill>
              </a:rPr>
              <a:t/>
            </a:r>
          </a:p>
          <a:p>
            <a:pPr algn="l"/>
            <a:r>
              <a:rPr sz="1700">
                <a:solidFill>
                  <a:srgbClr val="262626"/>
                </a:solidFill>
              </a:rPr>
              <a:t>  NBV at disposal = 4,000,000 − 2,000,000 = KES 2,000,000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Q2(b) ANSWER — Journal Entries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2" name="Table 4"/>
          <p:cNvGraphicFramePr/>
          <p:nvPr/>
        </p:nvGraphicFramePr>
        <p:xfrm>
          <a:off x="320040" y="1188720"/>
          <a:ext cx="11521080" cy="3453840"/>
        </p:xfrm>
        <a:graphic>
          <a:graphicData uri="http://schemas.openxmlformats.org/drawingml/2006/table">
            <a:tbl>
              <a:tblPr/>
              <a:tblGrid>
                <a:gridCol w="731520"/>
                <a:gridCol w="5943600"/>
                <a:gridCol w="2377440"/>
                <a:gridCol w="2468880"/>
              </a:tblGrid>
              <a:tr h="383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Step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Account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Dr (KES)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Cr (KES)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Disposal Account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4,000,000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Lorry Account (at cost)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4,000,000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Provision for Depreciation — Lorry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2,000,000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Disposal Account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2,000,000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Cash / Bank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2,200,000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Disposal Account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2,200,000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Disposal Account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P&amp;L — Profit on Disposal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</a:rPr>
                        <a:t>200,000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Q2(b) Disposal Account  |  Q2(c): PROFIT of KES 200,000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Rectangle 4"/>
          <p:cNvSpPr/>
          <p:nvPr/>
        </p:nvSpPr>
        <p:spPr>
          <a:xfrm>
            <a:off x="320040" y="1143000"/>
            <a:ext cx="11520720" cy="5394240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Box 5"/>
          <p:cNvSpPr/>
          <p:nvPr/>
        </p:nvSpPr>
        <p:spPr>
          <a:xfrm>
            <a:off x="502920" y="1234440"/>
            <a:ext cx="11154960" cy="52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D4D4D4"/>
                </a:solidFill>
                <a:effectLst/>
                <a:uFillTx/>
                <a:latin typeface="Calibri"/>
              </a:rPr>
              <a:t>  Lorry Disposal Account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D4D4D4"/>
                </a:solidFill>
                <a:effectLst/>
                <a:uFillTx/>
                <a:latin typeface="Calibri"/>
              </a:rPr>
              <a:t>  ──────────────────────────────────────────────────────────────────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D4D4D4"/>
                </a:solidFill>
                <a:effectLst/>
                <a:uFillTx/>
                <a:latin typeface="Calibri"/>
              </a:rPr>
              <a:t>  Dr                                       Cr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D4D4D4"/>
                </a:solidFill>
                <a:effectLst/>
                <a:uFillTx/>
                <a:latin typeface="Calibri"/>
              </a:rPr>
              <a:t>  ──────────────────────────────────────────────────────────────────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D4D4D4"/>
                </a:solidFill>
                <a:effectLst/>
                <a:uFillTx/>
                <a:latin typeface="Calibri"/>
              </a:rPr>
              <a:t>  Lorry (cost)       4,000,000  |  Prov for Dep'n      2,000,000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D4D4D4"/>
                </a:solidFill>
                <a:effectLst/>
                <a:uFillTx/>
                <a:latin typeface="Calibri"/>
              </a:rPr>
              <a:t>  P&amp;L (Profit)         200,000  |  Cash                2,200,000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D4D4D4"/>
                </a:solidFill>
                <a:effectLst/>
                <a:uFillTx/>
                <a:latin typeface="Calibri"/>
              </a:rPr>
              <a:t>  ──────────────────────────────────────────────────────────────────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D4D4D4"/>
                </a:solidFill>
                <a:effectLst/>
                <a:uFillTx/>
                <a:latin typeface="Calibri"/>
              </a:rPr>
              <a:t>                     4,200,000  |                      4,200,000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D4D4D4"/>
                </a:solidFill>
                <a:effectLst/>
                <a:uFillTx/>
                <a:latin typeface="Calibri"/>
              </a:rPr>
              <a:t>  ✔  PROFIT ON DISPOSAL = KES 200,000  →  Income in Statement of P&amp;L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Practice Q3 — Discussion [QUESTION]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4"/>
          <p:cNvSpPr/>
          <p:nvPr/>
        </p:nvSpPr>
        <p:spPr>
          <a:xfrm>
            <a:off x="320040" y="1143000"/>
            <a:ext cx="11612160" cy="53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(a) Explain why land is generally NOT depreciated but buildings ARE.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(b) A Nairobi business bought computers in 2020. Explain why the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  REDUCING BALANCE method may be more appropriate than straight-line.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(c) State TWO accounting principles that support depreciating fixed assets.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Q3 — ANSWERS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4"/>
          <p:cNvSpPr/>
          <p:nvPr/>
        </p:nvSpPr>
        <p:spPr>
          <a:xfrm>
            <a:off x="320040" y="1143000"/>
            <a:ext cx="11612160" cy="53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(a) Land has an UNLIMITED useful life — does not wear out or become obsolete.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  Buildings have a FINITE useful life (wear &amp; tear, weather) → depreciated (IAS 16).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(b) Computers lose value RAPIDLY early due to technological obsolescence.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  Reducing balance charges HIGHER depreciation early, matching actual value loss.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  Also matches higher maintenance costs in later years with lower dep'n charges.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(c) 1. Matching Principle — matches asset cost to revenue earned each period.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  2. Prudence — prevents overstatement of asset values and profit.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Box 3"/>
          <p:cNvSpPr/>
          <p:nvPr/>
        </p:nvSpPr>
        <p:spPr>
          <a:xfrm>
            <a:off x="274320" y="137160"/>
            <a:ext cx="11612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References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4"/>
          <p:cNvSpPr/>
          <p:nvPr/>
        </p:nvSpPr>
        <p:spPr>
          <a:xfrm>
            <a:off x="320040" y="1143000"/>
            <a:ext cx="11612160" cy="53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International Accounting Standards Board (IASB). (2003).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IAS 16: Property, plant and equipment (revised 2003). IFRS Foundation.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https://www.ifrs.org/issued-standards/list-of-standards/ias-16-property-plant-and-equipment/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Weygandt, J. J., Kimmel, P. D., &amp; Kieso, D. E. (2018).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Calibri"/>
              </a:rPr>
              <a:t>  Financial accounting: IFRS edition (3rd ed.). John Wiley &amp; Sons.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ectangle 1"/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solidFill>
            <a:srgbClr val="1F3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Rectangle 2"/>
          <p:cNvSpPr/>
          <p:nvPr/>
        </p:nvSpPr>
        <p:spPr>
          <a:xfrm>
            <a:off x="0" y="5120640"/>
            <a:ext cx="12188160" cy="17366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3"/>
          <p:cNvSpPr/>
          <p:nvPr/>
        </p:nvSpPr>
        <p:spPr>
          <a:xfrm>
            <a:off x="457200" y="1371600"/>
            <a:ext cx="1124640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End of Week 5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4"/>
          <p:cNvSpPr/>
          <p:nvPr/>
        </p:nvSpPr>
        <p:spPr>
          <a:xfrm>
            <a:off x="457200" y="3840480"/>
            <a:ext cx="112464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BDD7EE"/>
                </a:solidFill>
                <a:effectLst/>
                <a:uFillTx/>
                <a:latin typeface="Calibri"/>
              </a:rPr>
              <a:t>Fixed Assets &amp; Depreciation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5"/>
          <p:cNvSpPr/>
          <p:nvPr/>
        </p:nvSpPr>
        <p:spPr>
          <a:xfrm>
            <a:off x="457200" y="5303520"/>
            <a:ext cx="1124640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BS/C/7119 — Apply Fundamentals of Accounting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Facilitator: S. N. Ngigi | Kenya School of TVET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LibreOffice/26.2.2.2$Linux_X86_64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2026-04-11T21:11:45Z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